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84" r:id="rId2"/>
    <p:sldId id="285" r:id="rId3"/>
    <p:sldId id="276" r:id="rId4"/>
    <p:sldId id="275" r:id="rId5"/>
    <p:sldId id="260" r:id="rId6"/>
    <p:sldId id="274" r:id="rId7"/>
    <p:sldId id="265" r:id="rId8"/>
    <p:sldId id="262" r:id="rId9"/>
    <p:sldId id="273" r:id="rId10"/>
    <p:sldId id="267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70" r:id="rId19"/>
    <p:sldId id="271" r:id="rId20"/>
    <p:sldId id="259" r:id="rId21"/>
  </p:sldIdLst>
  <p:sldSz cx="12192000" cy="6858000"/>
  <p:notesSz cx="6858000" cy="9144000"/>
  <p:embeddedFontLst>
    <p:embeddedFont>
      <p:font typeface="Libre Baskerville" panose="02000000000000000000" pitchFamily="2" charset="0"/>
      <p:regular r:id="rId23"/>
      <p:bold r:id="rId24"/>
      <p: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6803" autoAdjust="0"/>
  </p:normalViewPr>
  <p:slideViewPr>
    <p:cSldViewPr snapToGrid="0">
      <p:cViewPr varScale="1">
        <p:scale>
          <a:sx n="44" d="100"/>
          <a:sy n="44" d="100"/>
        </p:scale>
        <p:origin x="150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IN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619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069AAE-9F85-6372-E7CB-F86FFB8CDC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14" y="1499805"/>
            <a:ext cx="11553371" cy="45526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E5917E-8D16-8133-0677-E8C64445DE6B}"/>
              </a:ext>
            </a:extLst>
          </p:cNvPr>
          <p:cNvSpPr txBox="1"/>
          <p:nvPr/>
        </p:nvSpPr>
        <p:spPr>
          <a:xfrm>
            <a:off x="2365828" y="152400"/>
            <a:ext cx="7010401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br>
              <a:rPr lang="en-US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Crime in Context, 1975-2015</a:t>
            </a:r>
          </a:p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violent crime rates rising or falling in American cities?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16F012-7A85-39A6-F3C5-2F09E554602A}"/>
              </a:ext>
            </a:extLst>
          </p:cNvPr>
          <p:cNvSpPr txBox="1"/>
          <p:nvPr/>
        </p:nvSpPr>
        <p:spPr>
          <a:xfrm>
            <a:off x="232229" y="5746940"/>
            <a:ext cx="2351314" cy="958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dirty="0">
                <a:solidFill>
                  <a:srgbClr val="FF0000"/>
                </a:solidFill>
              </a:rPr>
              <a:t>Presented By: 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highlight>
                  <a:srgbClr val="FFFF00"/>
                </a:highlight>
              </a:rPr>
              <a:t>M.RITHIKA</a:t>
            </a:r>
          </a:p>
        </p:txBody>
      </p:sp>
    </p:spTree>
    <p:extLst>
      <p:ext uri="{BB962C8B-B14F-4D97-AF65-F5344CB8AC3E}">
        <p14:creationId xmlns:p14="http://schemas.microsoft.com/office/powerpoint/2010/main" val="4017779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itle 230">
            <a:extLst>
              <a:ext uri="{FF2B5EF4-FFF2-40B4-BE49-F238E27FC236}">
                <a16:creationId xmlns:a16="http://schemas.microsoft.com/office/drawing/2014/main" id="{FD51AE21-4A6C-E40F-BD42-6C3D1C887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About Me </a:t>
            </a:r>
          </a:p>
        </p:txBody>
      </p:sp>
      <p:sp>
        <p:nvSpPr>
          <p:cNvPr id="232" name="Text Placeholder 231">
            <a:extLst>
              <a:ext uri="{FF2B5EF4-FFF2-40B4-BE49-F238E27FC236}">
                <a16:creationId xmlns:a16="http://schemas.microsoft.com/office/drawing/2014/main" id="{607209CD-5384-DA66-5F85-5A51191E1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520825"/>
            <a:ext cx="10515600" cy="4351338"/>
          </a:xfrm>
        </p:spPr>
        <p:txBody>
          <a:bodyPr/>
          <a:lstStyle/>
          <a:p>
            <a:r>
              <a:rPr lang="en-US" sz="2400" dirty="0"/>
              <a:t>I am </a:t>
            </a:r>
            <a:r>
              <a:rPr lang="en-US" sz="2400" b="1" dirty="0"/>
              <a:t>Rithika</a:t>
            </a:r>
            <a:r>
              <a:rPr lang="en-US" sz="2400" dirty="0"/>
              <a:t>, a recent </a:t>
            </a:r>
            <a:r>
              <a:rPr lang="en-US" sz="2400" b="1" dirty="0" err="1"/>
              <a:t>B.Tech</a:t>
            </a:r>
            <a:r>
              <a:rPr lang="en-US" sz="2400" b="1" dirty="0"/>
              <a:t> graduate in Artificial Intelligence and Data Science</a:t>
            </a:r>
            <a:r>
              <a:rPr lang="en-US" sz="2400" dirty="0"/>
              <a:t> from </a:t>
            </a:r>
            <a:r>
              <a:rPr lang="en-US" sz="2400" b="1" dirty="0"/>
              <a:t>Vignan College</a:t>
            </a:r>
            <a:endParaRPr lang="en-US" sz="2400" dirty="0"/>
          </a:p>
          <a:p>
            <a:r>
              <a:rPr lang="en-US" sz="2400" dirty="0"/>
              <a:t>I am passionate about </a:t>
            </a:r>
            <a:r>
              <a:rPr lang="en-US" sz="2400" b="1" dirty="0"/>
              <a:t>solving problems using data, logic, and structured thinking</a:t>
            </a:r>
            <a:endParaRPr lang="en-US" sz="2400" dirty="0"/>
          </a:p>
          <a:p>
            <a:r>
              <a:rPr lang="en-US" sz="2400" dirty="0"/>
              <a:t>I have worked on </a:t>
            </a:r>
            <a:r>
              <a:rPr lang="en-US" sz="2400" b="1" dirty="0"/>
              <a:t>academic and personal data analysis projects</a:t>
            </a:r>
            <a:r>
              <a:rPr lang="en-US" sz="2400" dirty="0"/>
              <a:t> that reflect real-world problem solving</a:t>
            </a:r>
          </a:p>
          <a:p>
            <a:r>
              <a:rPr lang="en-US" sz="2400" dirty="0"/>
              <a:t>I am continuously learning and improving my skills in </a:t>
            </a:r>
            <a:r>
              <a:rPr lang="en-US" sz="2400" b="1" dirty="0"/>
              <a:t>data analytics and visualization</a:t>
            </a:r>
            <a:endParaRPr lang="en-US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2630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E611E52-62A8-E2EF-68F4-D4BDAA1ACB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077" y="228156"/>
            <a:ext cx="10515600" cy="1325563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F6EDEE8-0A61-8BB8-9256-E722FAEFF4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69077" y="1726524"/>
            <a:ext cx="1048472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analyzes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violent crimes in major U.S. cities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40+ years of data (1975–2015)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Includes four FBI-defined crimes: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Homicide, Rape, Robbery, Assault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collected from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68 large police jurisdictions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study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crime trends, population impact, and crime relationships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 crime counts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just per-capita rates</a:t>
            </a:r>
          </a:p>
        </p:txBody>
      </p:sp>
    </p:spTree>
    <p:extLst>
      <p:ext uri="{BB962C8B-B14F-4D97-AF65-F5344CB8AC3E}">
        <p14:creationId xmlns:p14="http://schemas.microsoft.com/office/powerpoint/2010/main" val="18415973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F75EE-B33C-6C66-7699-5A473D941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Objective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DA604F-7293-31AB-8C2A-08C76D4DF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/>
              <a:t>To understand </a:t>
            </a:r>
            <a:r>
              <a:rPr lang="en-US" sz="2400" b="1" dirty="0"/>
              <a:t>patterns and trends in violent crime data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To see </a:t>
            </a:r>
            <a:r>
              <a:rPr lang="en-US" sz="2400" b="1" dirty="0"/>
              <a:t>how crimes changed over the years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To analyze </a:t>
            </a:r>
            <a:r>
              <a:rPr lang="en-US" sz="2400" b="1" dirty="0"/>
              <a:t>how population affects crime numbers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To study </a:t>
            </a:r>
            <a:r>
              <a:rPr lang="en-US" sz="2400" b="1" dirty="0"/>
              <a:t>relationships between different crime types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To practice </a:t>
            </a:r>
            <a:r>
              <a:rPr lang="en-US" sz="2400" b="1" dirty="0"/>
              <a:t>data analysis and visualization skills</a:t>
            </a:r>
            <a:r>
              <a:rPr lang="en-US" sz="2400" dirty="0"/>
              <a:t> using real data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5958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5AA6C-9B8D-E736-FFD3-0B38D8C58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564" y="624114"/>
            <a:ext cx="11224338" cy="1142789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rgbClr val="FF0000"/>
                </a:solidFill>
              </a:rPr>
              <a:t>Dataset Overview </a:t>
            </a:r>
            <a:br>
              <a:rPr lang="en-IN" dirty="0"/>
            </a:br>
            <a:endParaRPr lang="en-I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B2E6989-D54F-D41D-2595-1A8D51A238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02564" y="1646938"/>
            <a:ext cx="11933075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Analyzed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40+ years of violent crime data (1975–2015)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across major U.S. cities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includes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~3,000 records and 15 features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large police jurisdictions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Covers FBI-defined violent crimes: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Homicide, Rape, Robbery, Assault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crime counts and population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study real-world impact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Focuses on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 crime numbers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emphasizing that every incident matters</a:t>
            </a:r>
          </a:p>
          <a:p>
            <a:pPr marL="0" marR="0" lvl="0" indent="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to identify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crime trends, high-risk regions, and changing patterns over time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3466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6DF66-2590-12BD-31C8-24DD77AE8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Dataset Info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3C958D-07C7-4ABE-9993-1004B2B2B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7AC2CEC-8E28-169F-6854-A18AC3578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20825"/>
            <a:ext cx="5635171" cy="4532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346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B7BF2-38CA-121F-4CFB-87B18B843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457" y="1"/>
            <a:ext cx="10889343" cy="1690688"/>
          </a:xfrm>
        </p:spPr>
        <p:txBody>
          <a:bodyPr>
            <a:normAutofit/>
          </a:bodyPr>
          <a:lstStyle/>
          <a:p>
            <a:r>
              <a:rPr lang="en-IN" sz="4900" dirty="0">
                <a:solidFill>
                  <a:srgbClr val="FF0000"/>
                </a:solidFill>
              </a:rPr>
              <a:t>Data Preprocessing</a:t>
            </a:r>
            <a:br>
              <a:rPr lang="en-IN" sz="4900" b="1" dirty="0"/>
            </a:br>
            <a:r>
              <a:rPr lang="en-IN" sz="4900" dirty="0"/>
              <a:t> </a:t>
            </a:r>
            <a:r>
              <a:rPr lang="en-IN" sz="3600" dirty="0"/>
              <a:t>Detecting  Outliers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0CBBE6-356B-B0AE-8952-9B31D43FC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763" y="3744686"/>
            <a:ext cx="7895980" cy="311331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1CE065A-3DFC-703A-53BF-707F4326D6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4183"/>
          <a:stretch>
            <a:fillRect/>
          </a:stretch>
        </p:blipFill>
        <p:spPr>
          <a:xfrm>
            <a:off x="1591024" y="1640114"/>
            <a:ext cx="8636207" cy="210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9289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02EC1-8F06-EA74-A551-A57A2FCAE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285" y="365125"/>
            <a:ext cx="10809515" cy="1325563"/>
          </a:xfrm>
        </p:spPr>
        <p:txBody>
          <a:bodyPr>
            <a:norm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en-IN" sz="4000" dirty="0"/>
              <a:t>Handling Missing Values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EE3EB-FD22-65DF-6ADF-E97F72613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4285" y="1634219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High missing values in assaults, rapes, homicides, and robberies</a:t>
            </a:r>
          </a:p>
          <a:p>
            <a:r>
              <a:rPr lang="en-US" sz="2400" dirty="0"/>
              <a:t>Missing data could affect crime analysis</a:t>
            </a:r>
          </a:p>
          <a:p>
            <a:r>
              <a:rPr lang="en-US" sz="2400" dirty="0"/>
              <a:t>Removed records with all key crime values missing</a:t>
            </a:r>
          </a:p>
          <a:p>
            <a:r>
              <a:rPr lang="en-US" sz="2400" dirty="0"/>
              <a:t>Final dataset is clean and ready for analysis</a:t>
            </a:r>
          </a:p>
          <a:p>
            <a:pPr marL="114300" indent="0">
              <a:buNone/>
            </a:pPr>
            <a:endParaRPr lang="en-IN" sz="3600" dirty="0"/>
          </a:p>
          <a:p>
            <a:pPr marL="857250" indent="-742950">
              <a:buFont typeface="+mj-lt"/>
              <a:buAutoNum type="arabicPeriod" startAt="2"/>
            </a:pPr>
            <a:r>
              <a:rPr lang="en-IN" sz="3600" dirty="0"/>
              <a:t>Handling Duplicates:</a:t>
            </a:r>
          </a:p>
          <a:p>
            <a:pPr fontAlgn="base"/>
            <a:r>
              <a:rPr lang="en-US" sz="2400" dirty="0"/>
              <a:t>Checked for duplicate rows in year, crimes, and percentage, none were found.</a:t>
            </a:r>
          </a:p>
          <a:p>
            <a:pPr fontAlgn="base"/>
            <a:r>
              <a:rPr lang="en-US" sz="2400" dirty="0"/>
              <a:t>Ensures dataset remains clean without redundancy.</a:t>
            </a:r>
          </a:p>
          <a:p>
            <a:pPr marL="114300" indent="0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703764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40073-849E-2A9B-E9C0-45C540617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229"/>
            <a:ext cx="10515600" cy="145845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N" sz="4900" dirty="0">
                <a:solidFill>
                  <a:srgbClr val="FF0000"/>
                </a:solidFill>
              </a:rPr>
              <a:t>Data Cleaning </a:t>
            </a:r>
            <a:br>
              <a:rPr lang="en-IN" sz="4000" dirty="0"/>
            </a:br>
            <a:r>
              <a:rPr lang="en-IN" sz="4000" dirty="0"/>
              <a:t>     Fixing Inconsistencies in Categorical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489773-06F6-9F85-417C-44B420B419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17486"/>
            <a:ext cx="10515600" cy="4159477"/>
          </a:xfrm>
        </p:spPr>
        <p:txBody>
          <a:bodyPr>
            <a:normAutofit/>
          </a:bodyPr>
          <a:lstStyle/>
          <a:p>
            <a:r>
              <a:rPr lang="en-US" sz="2400" dirty="0"/>
              <a:t>Inconsistencies occur when the same category is represented in multiple forms due to formatting differences</a:t>
            </a:r>
          </a:p>
          <a:p>
            <a:r>
              <a:rPr lang="en-US" sz="2400" dirty="0"/>
              <a:t>Standardized the </a:t>
            </a:r>
            <a:r>
              <a:rPr lang="en-US" sz="2400" dirty="0" err="1"/>
              <a:t>agency_jurisdiction</a:t>
            </a:r>
            <a:r>
              <a:rPr lang="en-US" sz="2400" dirty="0"/>
              <a:t> field by splitting and converting it into separate city and state columns for better clarity and analysis.</a:t>
            </a:r>
          </a:p>
          <a:p>
            <a:pPr marL="571500" lvl="1" indent="0">
              <a:buSzPct val="50000"/>
              <a:buNone/>
            </a:pPr>
            <a:endParaRPr lang="en-IN" sz="4000" dirty="0"/>
          </a:p>
          <a:p>
            <a:pPr marL="571500" lvl="1" indent="0">
              <a:buSzPct val="50000"/>
              <a:buNone/>
            </a:pPr>
            <a:r>
              <a:rPr lang="en-IN" sz="3600" dirty="0"/>
              <a:t>Data Type Conversion</a:t>
            </a:r>
          </a:p>
          <a:p>
            <a:r>
              <a:rPr lang="en-US" sz="2400" dirty="0"/>
              <a:t>Data type conversion ensures that each column is properly formatted, allowing for more accurate aggregation and comparison in the crime dataset.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497797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F8A603-F9BB-5203-91D3-AA9D32B64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1469572"/>
            <a:ext cx="5618844" cy="439419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8926F-3028-ED9C-7BA6-B598712AA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874044"/>
            <a:ext cx="5878286" cy="38063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9A68B0-2E64-9B70-16E3-16585B5DE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How did each type of violent crime evolve over time?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442499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8076347-B7CD-6D6A-9DAF-7ACD9F1BB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" y="968828"/>
            <a:ext cx="5475515" cy="41402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F88098D-5A21-9D9A-2A32-4CCB48515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515" y="968827"/>
            <a:ext cx="6525985" cy="414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3728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C4C62-095B-85E8-DD7E-8456F56C0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900" dirty="0">
                <a:solidFill>
                  <a:srgbClr val="FF0000"/>
                </a:solidFill>
              </a:rPr>
              <a:t>UNIVARIATE ANALYSIS</a:t>
            </a:r>
            <a:br>
              <a:rPr lang="en-US" sz="4000" dirty="0"/>
            </a:br>
            <a:r>
              <a:rPr lang="en-US" sz="2700" b="1" dirty="0"/>
              <a:t>Are violent crimes concentrated in a few states or spread evenly across all states</a:t>
            </a:r>
            <a:endParaRPr lang="en-IN" sz="27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F464B5-761D-91B0-7652-D1F80943A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57" y="1935389"/>
            <a:ext cx="9031514" cy="4247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8344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06025FD-FD65-72F3-07E1-D8F017063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What proportion of total violent crime does each category represent?</a:t>
            </a:r>
            <a:endParaRPr lang="en-IN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B630D5-E080-F6D0-D10A-19AD14AF5F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5343" y="1579789"/>
            <a:ext cx="4807857" cy="4913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0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198B7-D1E8-7DE2-4D9D-7802ABD47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Which cities report the highest number of violent crimes?</a:t>
            </a:r>
            <a:endParaRPr lang="en-IN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92DCC5-D33A-85FD-56B7-D6CB1DCD60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0172" y="1886857"/>
            <a:ext cx="7678057" cy="418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1243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7F2F4-7695-29C6-A2C2-58CB07C16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57" y="0"/>
            <a:ext cx="10515600" cy="2190574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sz="4900" dirty="0">
                <a:solidFill>
                  <a:srgbClr val="FF0000"/>
                </a:solidFill>
              </a:rPr>
              <a:t>BIVARIATE ANALYSIS</a:t>
            </a:r>
            <a:br>
              <a:rPr lang="en-US" dirty="0"/>
            </a:br>
            <a:r>
              <a:rPr lang="en-US" sz="3200" b="1" dirty="0"/>
              <a:t>Is there a relationship between population size and crime volume? </a:t>
            </a:r>
            <a:endParaRPr lang="en-IN" sz="32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E41D1D-2D9A-B8FC-70EB-262A04C8C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78743"/>
            <a:ext cx="8392696" cy="3991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841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62180-320E-022F-4F77-4B6493115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Are there any cities with unusually high crime for their population size?</a:t>
            </a:r>
            <a:endParaRPr lang="en-IN" sz="32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8B31C4-1EB7-F577-9EB5-95B0A2713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84919"/>
            <a:ext cx="12192000" cy="393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9344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099E0-5642-E42C-9D74-B74A66F45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N" dirty="0">
                <a:solidFill>
                  <a:srgbClr val="FF0000"/>
                </a:solidFill>
              </a:rPr>
              <a:t>MULTIVARIATE ANALYSIS </a:t>
            </a:r>
            <a:br>
              <a:rPr lang="en-IN" dirty="0"/>
            </a:br>
            <a:r>
              <a:rPr lang="en-US" sz="3600" b="1" dirty="0"/>
              <a:t>Which crime pairs show the strongest relationships?</a:t>
            </a:r>
            <a:endParaRPr lang="en-IN" sz="36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29ED43-FC6E-DED7-3898-40AC1FBC3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7485" y="2075542"/>
            <a:ext cx="7082971" cy="3953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6026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D779D-A90B-6102-79BD-E481588BA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288" y="92467"/>
            <a:ext cx="10593511" cy="1598221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Insights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83EC26-0966-2E35-40EC-8778522F99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1240" y="1245248"/>
            <a:ext cx="11248246" cy="4867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/>
            <a:r>
              <a:rPr lang="en-US" sz="2000" b="1" dirty="0"/>
              <a:t>Crime levels peaked in the early 1990s but have steadily declined</a:t>
            </a:r>
            <a:r>
              <a:rPr lang="en-US" sz="2000" dirty="0"/>
              <a:t>, showing long-term improvements in public safety.</a:t>
            </a:r>
          </a:p>
          <a:p>
            <a:pPr fontAlgn="base"/>
            <a:r>
              <a:rPr lang="en-US" sz="2000" dirty="0"/>
              <a:t> </a:t>
            </a:r>
            <a:r>
              <a:rPr lang="en-US" sz="2000" b="1" dirty="0"/>
              <a:t>Large metropolitan cities contribute the highest share of violent crimes</a:t>
            </a:r>
            <a:r>
              <a:rPr lang="en-US" sz="2000" dirty="0"/>
              <a:t>, with New York, Los Angeles, Chicago, Detroit, and Houston leading by wide margins.</a:t>
            </a:r>
          </a:p>
          <a:p>
            <a:pPr fontAlgn="base"/>
            <a:r>
              <a:rPr lang="en-US" sz="2000" dirty="0"/>
              <a:t> </a:t>
            </a:r>
            <a:r>
              <a:rPr lang="en-US" sz="2000" b="1" dirty="0"/>
              <a:t>High-risk cities like Miami, Atlanta, Newark, and St. Louis show the highest crimes per capita</a:t>
            </a:r>
            <a:r>
              <a:rPr lang="en-US" sz="2000" dirty="0"/>
              <a:t>, making them the most dangerous relative to population size.</a:t>
            </a:r>
          </a:p>
          <a:p>
            <a:pPr fontAlgn="base"/>
            <a:r>
              <a:rPr lang="en-US" sz="2000" dirty="0"/>
              <a:t> </a:t>
            </a:r>
            <a:r>
              <a:rPr lang="en-US" sz="2000" b="1" dirty="0"/>
              <a:t>Population strongly influences total crime</a:t>
            </a:r>
            <a:r>
              <a:rPr lang="en-US" sz="2000" dirty="0"/>
              <a:t>, with bigger, denser cities reporting far more homicides, assaults, robberies, and rapes.</a:t>
            </a:r>
          </a:p>
          <a:p>
            <a:pPr fontAlgn="base"/>
            <a:r>
              <a:rPr lang="en-US" sz="2000" dirty="0"/>
              <a:t> </a:t>
            </a:r>
            <a:r>
              <a:rPr lang="en-US" sz="2000" b="1" dirty="0"/>
              <a:t>Violent crime categories are closely linked</a:t>
            </a:r>
            <a:r>
              <a:rPr lang="en-US" sz="2000" dirty="0"/>
              <a:t>, meaning when one type increases (like assaults), others often rise together.</a:t>
            </a:r>
          </a:p>
          <a:p>
            <a:pPr fontAlgn="base"/>
            <a:r>
              <a:rPr lang="en-US" sz="2000" dirty="0"/>
              <a:t> </a:t>
            </a:r>
            <a:r>
              <a:rPr lang="en-US" sz="2000" b="1" dirty="0"/>
              <a:t>Crime reporting gaps occur consistently</a:t>
            </a:r>
            <a:r>
              <a:rPr lang="en-US" sz="2000" dirty="0"/>
              <a:t>, and missing crime values indicate unreported years rather than incomplete data.</a:t>
            </a:r>
          </a:p>
          <a:p>
            <a:pPr fontAlgn="base"/>
            <a:r>
              <a:rPr lang="en-US" sz="2000" dirty="0"/>
              <a:t> Overall, the analysis shows </a:t>
            </a:r>
            <a:r>
              <a:rPr lang="en-US" sz="2000" b="1" dirty="0"/>
              <a:t>clear crime concentration in major cities</a:t>
            </a:r>
            <a:r>
              <a:rPr lang="en-US" sz="2000" dirty="0"/>
              <a:t>, strong relationships between crime types, and historical patterns that can help guide policing, prevention, and policy decisions.</a:t>
            </a:r>
          </a:p>
        </p:txBody>
      </p:sp>
    </p:spTree>
    <p:extLst>
      <p:ext uri="{BB962C8B-B14F-4D97-AF65-F5344CB8AC3E}">
        <p14:creationId xmlns:p14="http://schemas.microsoft.com/office/powerpoint/2010/main" val="29712392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6E177B-2DEA-D12A-8696-55D083F20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2980" y="464458"/>
            <a:ext cx="10226039" cy="1368206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E7888ED1-EE48-70A3-DE46-268309D2FA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82980" y="1966123"/>
            <a:ext cx="10226039" cy="34317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/>
              <a:t>The analysis shows</a:t>
            </a:r>
            <a:r>
              <a:rPr lang="en-US" sz="2400" dirty="0"/>
              <a:t> that violent crime peaked in the early 1990s and then declined steadily across major U.S. cities.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By understanding these trends</a:t>
            </a:r>
            <a:r>
              <a:rPr lang="en-US" sz="2400" dirty="0"/>
              <a:t>, we can infer that changes in government policies, law enforcement strategies, and public safety initiatives may have contributed to the reduction in crime.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Through this project</a:t>
            </a:r>
            <a:r>
              <a:rPr lang="en-US" sz="2400" dirty="0"/>
              <a:t>, using </a:t>
            </a:r>
            <a:r>
              <a:rPr lang="en-US" sz="2400" b="1" dirty="0"/>
              <a:t>Exploratory Data Analysis (EDA) and Python</a:t>
            </a:r>
            <a:r>
              <a:rPr lang="en-US" sz="2400" dirty="0"/>
              <a:t>, I learned how to clean data, visualize patterns, and extract meaningful insights from real-world datasets.</a:t>
            </a:r>
          </a:p>
        </p:txBody>
      </p:sp>
    </p:spTree>
    <p:extLst>
      <p:ext uri="{BB962C8B-B14F-4D97-AF65-F5344CB8AC3E}">
        <p14:creationId xmlns:p14="http://schemas.microsoft.com/office/powerpoint/2010/main" val="31336018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855</TotalTime>
  <Words>771</Words>
  <Application>Microsoft Office PowerPoint</Application>
  <PresentationFormat>Widescreen</PresentationFormat>
  <Paragraphs>69</Paragraphs>
  <Slides>20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Times New Roman</vt:lpstr>
      <vt:lpstr>Calibri</vt:lpstr>
      <vt:lpstr>Arial</vt:lpstr>
      <vt:lpstr>Libre Baskerville</vt:lpstr>
      <vt:lpstr>Office Theme</vt:lpstr>
      <vt:lpstr>PowerPoint Presentation</vt:lpstr>
      <vt:lpstr>About Me </vt:lpstr>
      <vt:lpstr>Introduction</vt:lpstr>
      <vt:lpstr>Objective</vt:lpstr>
      <vt:lpstr>Dataset Overview  </vt:lpstr>
      <vt:lpstr>Dataset Info</vt:lpstr>
      <vt:lpstr>Data Preprocessing  Detecting  Outliers</vt:lpstr>
      <vt:lpstr>Handling Missing Values</vt:lpstr>
      <vt:lpstr>Data Cleaning       Fixing Inconsistencies in Categorical Data</vt:lpstr>
      <vt:lpstr>How did each type of violent crime evolve over time?</vt:lpstr>
      <vt:lpstr>PowerPoint Presentation</vt:lpstr>
      <vt:lpstr>UNIVARIATE ANALYSIS Are violent crimes concentrated in a few states or spread evenly across all states</vt:lpstr>
      <vt:lpstr>What proportion of total violent crime does each category represent?</vt:lpstr>
      <vt:lpstr>Which cities report the highest number of violent crimes?</vt:lpstr>
      <vt:lpstr>BIVARIATE ANALYSIS Is there a relationship between population size and crime volume? </vt:lpstr>
      <vt:lpstr>Are there any cities with unusually high crime for their population size?</vt:lpstr>
      <vt:lpstr>MULTIVARIATE ANALYSIS  Which crime pairs show the strongest relationships?</vt:lpstr>
      <vt:lpstr>Insights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Raghu Ram Aduri</dc:creator>
  <cp:lastModifiedBy>sandhya43210@gmail.com</cp:lastModifiedBy>
  <cp:revision>16</cp:revision>
  <dcterms:created xsi:type="dcterms:W3CDTF">2021-02-16T05:19:01Z</dcterms:created>
  <dcterms:modified xsi:type="dcterms:W3CDTF">2025-12-18T17:29:30Z</dcterms:modified>
</cp:coreProperties>
</file>